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56" r:id="rId5"/>
    <p:sldId id="257" r:id="rId6"/>
    <p:sldId id="258" r:id="rId7"/>
    <p:sldId id="261" r:id="rId8"/>
    <p:sldId id="262" r:id="rId9"/>
    <p:sldId id="263" r:id="rId10"/>
    <p:sldId id="260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272" r:id="rId19"/>
    <p:sldId id="270" r:id="rId20"/>
    <p:sldId id="273" r:id="rId21"/>
    <p:sldId id="275" r:id="rId22"/>
    <p:sldId id="274" r:id="rId23"/>
    <p:sldId id="277" r:id="rId24"/>
    <p:sldId id="276" r:id="rId25"/>
    <p:sldId id="259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4889" autoAdjust="0"/>
  </p:normalViewPr>
  <p:slideViewPr>
    <p:cSldViewPr snapToGrid="0">
      <p:cViewPr varScale="1">
        <p:scale>
          <a:sx n="74" d="100"/>
          <a:sy n="74" d="100"/>
        </p:scale>
        <p:origin x="104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1670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A2E547D-1406-4A6F-8F93-E441204CE6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667F8A-B889-49B3-AC77-5DDF11A08A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B2889B-A0AC-4482-8592-5C96F2309420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7AFD4F-C0E7-421C-AF77-6F9CC963C9C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74AB9F-6726-4FB1-8769-82E23336CE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529299-61FF-4B93-ADA6-2FD5975D62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27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EB223-FFC0-462A-A3B8-EAA7CE0F8CBD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849E9A-41F7-4779-A581-48A7C374A22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5518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Source: https://towardsdatascience.com/scholarly-network-analysis-22cd352c0f86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5904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638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459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48602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572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718B7-7F68-4CC9-8291-332587FA3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81D6BB-0446-49E8-8677-EADF274E9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AEE24-534A-40F1-99E4-00B7D5FD9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94011-48FF-493D-8286-F62D34552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0EFCD-7E72-4882-86DC-2F371D7D9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2813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334F3-0709-471B-A734-C4B404F55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95016-AF78-4708-9C5F-21110C197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EA2D1-B124-4454-AFDC-EA60A14BA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58000-F9D7-4A53-A6C5-E5E815422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22AAD-0D08-4F47-8D5A-EFE29017E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046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6159-1280-4EE9-96D3-A56BD5826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7A78-1874-488A-B215-7D763D338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BB3D1-3138-4B69-BF5D-4B1A21345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F90C5-31F4-4A22-AC00-3FB5ED291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1F787E-B946-4091-ABC6-F9DB06BBE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272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CAA11-CC97-44E5-AE4D-808FD741A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AB6CB-9460-4BCA-86C5-5F26357AB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FAB0F6-401D-4BAF-A300-65AD684DF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561BBA-B185-4B45-B152-3D320E15F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CD760-96AC-4821-A56B-0B805F2FA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50665-D5B5-4D0B-B2F0-CB6B027CD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061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A47C3-C498-415A-A057-E19BCEB5F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F6677F-2712-4810-A3AA-56FA75386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71B54A-6775-4978-8E19-32694C9B5E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BA1303-B245-476D-BD02-A4E4A359F6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8E898F-5B79-46F1-89C1-F827997CC4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417A4D-2EC9-4294-BFF4-EAE22EE10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0E317-3602-42A1-BB7F-0184072E8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CE2C97-E26C-4A8B-93A0-B01E2C7F4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698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F68FC-5755-447A-8D7F-9ADED3E99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B50287-81AA-46CA-8CB3-53A7F8313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1BA4AA-02C9-459E-9362-3DA60E3B5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2A2C8F-DBB4-4235-A67E-FB4039D9A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39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6ACAA5-F8E7-46E9-8BA7-A510948B6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F2DEE8-5654-4DCA-A8D0-D883E52B6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179A5-4329-4057-9DEB-5B6E3AD11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790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1DA80-336B-4DBB-91A1-6E3E4B3C2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0D456-F0A3-4789-A310-A23F01B2E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8A8B05-7071-44D4-80F7-3E8191C9A4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D8562E-E6F1-449B-909C-98426BA86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47A9A-FB08-407B-A73A-0AC513F0F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FF841F-796A-4FE6-B5E0-C8A498679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849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D474D-6779-4C23-BD3C-82F5DC3E3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21096C-E430-49C7-A801-21C0BD95DC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4828F-334F-4A50-850D-10684F2452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3293F4-2B70-4BB5-A982-219E4133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F9A86F-B378-4759-B50E-2E0BFAE62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95BDC-FC58-4638-AA59-A3DA9931F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0833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47D73-EDDA-49A6-BA12-1CA980DA9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89B82E-4CA1-47A5-B133-FBD4D8A839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A267F-D142-4D04-9F03-6CB099E6F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127CA-154D-4E90-B776-A2EE71F78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5F0BA5-F4EE-4282-B111-76B869BE2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408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56E92A-52E0-4710-BDEF-0A15346854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A240E1-5EB0-47FD-AA37-BF945D136C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14243-F1E4-487A-ABEC-30516A01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58244-98FD-472D-AB8C-075F71C10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98D5A-820D-4519-967F-33320971C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4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80BC3B-525F-4038-9330-0729879F9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29186-93D7-46FA-AE02-36D942604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F1CEB-0530-4996-BAEF-2E6A04DAD6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CF21A4-E71B-4D3A-AF45-E989C23A7BB1}" type="datetimeFigureOut">
              <a:rPr lang="en-US" smtClean="0"/>
              <a:t>11/4/2020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DCFF3D-7353-4B4D-9E75-FA835E06E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2C8D6-8B0B-4982-9EE4-AA823C69C3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0604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storm-open.github.io/visNetwork/" TargetMode="External"/><Relationship Id="rId2" Type="http://schemas.openxmlformats.org/officeDocument/2006/relationships/hyperlink" Target="https://igraph.org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storm-open.github.io/visNetwork/" TargetMode="External"/><Relationship Id="rId2" Type="http://schemas.openxmlformats.org/officeDocument/2006/relationships/hyperlink" Target="https://towardsdatascience.com/how-to-get-started-with-social-network-analysis-6d527685d37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an.r-project.org/web/packages/visNetwork/vignettes/Introduction-to-visNetwork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1AC0E-7195-4ACF-AA0A-5E2923A98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942" y="5203763"/>
            <a:ext cx="7189362" cy="735644"/>
          </a:xfrm>
        </p:spPr>
        <p:txBody>
          <a:bodyPr anchor="t">
            <a:normAutofit/>
          </a:bodyPr>
          <a:lstStyle/>
          <a:p>
            <a:pPr algn="l"/>
            <a:r>
              <a:rPr lang="en-US" sz="4400" dirty="0" smtClean="0">
                <a:latin typeface="Franklin Gothic Book" panose="020B0503020102020204" pitchFamily="34" charset="0"/>
                <a:cs typeface="Segoe UI" panose="020B0502040204020203" pitchFamily="34" charset="0"/>
              </a:rPr>
              <a:t>Introduction to Networks in R</a:t>
            </a:r>
            <a:endParaRPr lang="en-US" sz="4400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F6E384F5-137A-40B1-97F0-694CC6ECD59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122218"/>
            <a:ext cx="3730752" cy="4735782"/>
          </a:xfrm>
          <a:custGeom>
            <a:avLst/>
            <a:gdLst>
              <a:gd name="connsiteX0" fmla="*/ 640080 w 3730752"/>
              <a:gd name="connsiteY0" fmla="*/ 0 h 4735782"/>
              <a:gd name="connsiteX1" fmla="*/ 3730752 w 3730752"/>
              <a:gd name="connsiteY1" fmla="*/ 3090672 h 4735782"/>
              <a:gd name="connsiteX2" fmla="*/ 3357725 w 3730752"/>
              <a:gd name="connsiteY2" fmla="*/ 4563870 h 4735782"/>
              <a:gd name="connsiteX3" fmla="*/ 3253285 w 3730752"/>
              <a:gd name="connsiteY3" fmla="*/ 4735782 h 4735782"/>
              <a:gd name="connsiteX4" fmla="*/ 0 w 3730752"/>
              <a:gd name="connsiteY4" fmla="*/ 4735782 h 4735782"/>
              <a:gd name="connsiteX5" fmla="*/ 0 w 3730752"/>
              <a:gd name="connsiteY5" fmla="*/ 67215 h 4735782"/>
              <a:gd name="connsiteX6" fmla="*/ 17202 w 3730752"/>
              <a:gd name="connsiteY6" fmla="*/ 62792 h 4735782"/>
              <a:gd name="connsiteX7" fmla="*/ 640080 w 3730752"/>
              <a:gd name="connsiteY7" fmla="*/ 0 h 4735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30752" h="4735782">
                <a:moveTo>
                  <a:pt x="640080" y="0"/>
                </a:moveTo>
                <a:cubicBezTo>
                  <a:pt x="2347011" y="0"/>
                  <a:pt x="3730752" y="1383741"/>
                  <a:pt x="3730752" y="3090672"/>
                </a:cubicBezTo>
                <a:cubicBezTo>
                  <a:pt x="3730752" y="3624088"/>
                  <a:pt x="3595621" y="4125943"/>
                  <a:pt x="3357725" y="4563870"/>
                </a:cubicBezTo>
                <a:lnTo>
                  <a:pt x="3253285" y="4735782"/>
                </a:lnTo>
                <a:lnTo>
                  <a:pt x="0" y="4735782"/>
                </a:lnTo>
                <a:lnTo>
                  <a:pt x="0" y="67215"/>
                </a:lnTo>
                <a:lnTo>
                  <a:pt x="17202" y="62792"/>
                </a:lnTo>
                <a:cubicBezTo>
                  <a:pt x="218397" y="21621"/>
                  <a:pt x="426714" y="0"/>
                  <a:pt x="64008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EBA87361-6D30-46E4-834B-719CF59055EA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8332"/>
            <a:ext cx="3564638" cy="4569668"/>
          </a:xfrm>
          <a:custGeom>
            <a:avLst/>
            <a:gdLst>
              <a:gd name="connsiteX0" fmla="*/ 640080 w 3564638"/>
              <a:gd name="connsiteY0" fmla="*/ 0 h 4569668"/>
              <a:gd name="connsiteX1" fmla="*/ 3564638 w 3564638"/>
              <a:gd name="connsiteY1" fmla="*/ 2924558 h 4569668"/>
              <a:gd name="connsiteX2" fmla="*/ 3065170 w 3564638"/>
              <a:gd name="connsiteY2" fmla="*/ 4559707 h 4569668"/>
              <a:gd name="connsiteX3" fmla="*/ 3057720 w 3564638"/>
              <a:gd name="connsiteY3" fmla="*/ 4569668 h 4569668"/>
              <a:gd name="connsiteX4" fmla="*/ 0 w 3564638"/>
              <a:gd name="connsiteY4" fmla="*/ 4569668 h 4569668"/>
              <a:gd name="connsiteX5" fmla="*/ 0 w 3564638"/>
              <a:gd name="connsiteY5" fmla="*/ 72448 h 4569668"/>
              <a:gd name="connsiteX6" fmla="*/ 50679 w 3564638"/>
              <a:gd name="connsiteY6" fmla="*/ 59417 h 4569668"/>
              <a:gd name="connsiteX7" fmla="*/ 640080 w 3564638"/>
              <a:gd name="connsiteY7" fmla="*/ 0 h 456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64638" h="4569668">
                <a:moveTo>
                  <a:pt x="640080" y="0"/>
                </a:moveTo>
                <a:cubicBezTo>
                  <a:pt x="2255269" y="0"/>
                  <a:pt x="3564638" y="1309369"/>
                  <a:pt x="3564638" y="2924558"/>
                </a:cubicBezTo>
                <a:cubicBezTo>
                  <a:pt x="3564638" y="3530254"/>
                  <a:pt x="3380508" y="4092944"/>
                  <a:pt x="3065170" y="4559707"/>
                </a:cubicBezTo>
                <a:lnTo>
                  <a:pt x="3057720" y="4569668"/>
                </a:lnTo>
                <a:lnTo>
                  <a:pt x="0" y="4569668"/>
                </a:lnTo>
                <a:lnTo>
                  <a:pt x="0" y="72448"/>
                </a:lnTo>
                <a:lnTo>
                  <a:pt x="50679" y="59417"/>
                </a:lnTo>
                <a:cubicBezTo>
                  <a:pt x="241061" y="20459"/>
                  <a:pt x="438181" y="0"/>
                  <a:pt x="640080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DBC4630-03DA-474F-BBCB-BA3AE6B317A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1982" y="-4332"/>
            <a:ext cx="4242816" cy="2454158"/>
          </a:xfrm>
          <a:custGeom>
            <a:avLst/>
            <a:gdLst>
              <a:gd name="connsiteX0" fmla="*/ 28633 w 4242816"/>
              <a:gd name="connsiteY0" fmla="*/ 0 h 2454158"/>
              <a:gd name="connsiteX1" fmla="*/ 4214183 w 4242816"/>
              <a:gd name="connsiteY1" fmla="*/ 0 h 2454158"/>
              <a:gd name="connsiteX2" fmla="*/ 4231864 w 4242816"/>
              <a:gd name="connsiteY2" fmla="*/ 115848 h 2454158"/>
              <a:gd name="connsiteX3" fmla="*/ 4242816 w 4242816"/>
              <a:gd name="connsiteY3" fmla="*/ 332750 h 2454158"/>
              <a:gd name="connsiteX4" fmla="*/ 2121408 w 4242816"/>
              <a:gd name="connsiteY4" fmla="*/ 2454158 h 2454158"/>
              <a:gd name="connsiteX5" fmla="*/ 0 w 4242816"/>
              <a:gd name="connsiteY5" fmla="*/ 332750 h 2454158"/>
              <a:gd name="connsiteX6" fmla="*/ 10953 w 4242816"/>
              <a:gd name="connsiteY6" fmla="*/ 115848 h 2454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42816" h="2454158">
                <a:moveTo>
                  <a:pt x="28633" y="0"/>
                </a:moveTo>
                <a:lnTo>
                  <a:pt x="4214183" y="0"/>
                </a:lnTo>
                <a:lnTo>
                  <a:pt x="4231864" y="115848"/>
                </a:lnTo>
                <a:cubicBezTo>
                  <a:pt x="4239106" y="187164"/>
                  <a:pt x="4242816" y="259524"/>
                  <a:pt x="4242816" y="332750"/>
                </a:cubicBezTo>
                <a:cubicBezTo>
                  <a:pt x="4242816" y="1504371"/>
                  <a:pt x="3293029" y="2454158"/>
                  <a:pt x="2121408" y="2454158"/>
                </a:cubicBezTo>
                <a:cubicBezTo>
                  <a:pt x="949787" y="2454158"/>
                  <a:pt x="0" y="1504371"/>
                  <a:pt x="0" y="332750"/>
                </a:cubicBezTo>
                <a:cubicBezTo>
                  <a:pt x="0" y="259524"/>
                  <a:pt x="3710" y="187164"/>
                  <a:pt x="10953" y="115848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D89DB1C0-FEEC-4CB6-88B2-F9C5562E09D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6574" y="0"/>
            <a:ext cx="3913632" cy="2285234"/>
          </a:xfrm>
          <a:custGeom>
            <a:avLst/>
            <a:gdLst>
              <a:gd name="connsiteX0" fmla="*/ 29691 w 3913632"/>
              <a:gd name="connsiteY0" fmla="*/ 0 h 2285234"/>
              <a:gd name="connsiteX1" fmla="*/ 3883942 w 3913632"/>
              <a:gd name="connsiteY1" fmla="*/ 0 h 2285234"/>
              <a:gd name="connsiteX2" fmla="*/ 3903529 w 3913632"/>
              <a:gd name="connsiteY2" fmla="*/ 128345 h 2285234"/>
              <a:gd name="connsiteX3" fmla="*/ 3913632 w 3913632"/>
              <a:gd name="connsiteY3" fmla="*/ 328418 h 2285234"/>
              <a:gd name="connsiteX4" fmla="*/ 1956816 w 3913632"/>
              <a:gd name="connsiteY4" fmla="*/ 2285234 h 2285234"/>
              <a:gd name="connsiteX5" fmla="*/ 0 w 3913632"/>
              <a:gd name="connsiteY5" fmla="*/ 328418 h 2285234"/>
              <a:gd name="connsiteX6" fmla="*/ 10103 w 3913632"/>
              <a:gd name="connsiteY6" fmla="*/ 128345 h 2285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13632" h="2285234">
                <a:moveTo>
                  <a:pt x="29691" y="0"/>
                </a:moveTo>
                <a:lnTo>
                  <a:pt x="3883942" y="0"/>
                </a:lnTo>
                <a:lnTo>
                  <a:pt x="3903529" y="128345"/>
                </a:lnTo>
                <a:cubicBezTo>
                  <a:pt x="3910210" y="194127"/>
                  <a:pt x="3913632" y="260873"/>
                  <a:pt x="3913632" y="328418"/>
                </a:cubicBezTo>
                <a:cubicBezTo>
                  <a:pt x="3913632" y="1409138"/>
                  <a:pt x="3037536" y="2285234"/>
                  <a:pt x="1956816" y="2285234"/>
                </a:cubicBezTo>
                <a:cubicBezTo>
                  <a:pt x="876096" y="2285234"/>
                  <a:pt x="0" y="1409138"/>
                  <a:pt x="0" y="328418"/>
                </a:cubicBezTo>
                <a:cubicBezTo>
                  <a:pt x="0" y="260873"/>
                  <a:pt x="3422" y="194127"/>
                  <a:pt x="10103" y="128345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8418A25-6EAC-4140-BFE6-284E1925B5E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117" y="615908"/>
            <a:ext cx="3182112" cy="3182112"/>
          </a:xfrm>
          <a:prstGeom prst="ellipse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8163D1C-ED91-4D5F-A33B-CF1256B270D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7709" y="780500"/>
            <a:ext cx="2852928" cy="28529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31103AB2-C090-458F-B752-294F23AFA8A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2568" y="-4331"/>
            <a:ext cx="3439432" cy="3785157"/>
          </a:xfrm>
          <a:custGeom>
            <a:avLst/>
            <a:gdLst>
              <a:gd name="connsiteX0" fmla="*/ 198262 w 3439432"/>
              <a:gd name="connsiteY0" fmla="*/ 0 h 3785157"/>
              <a:gd name="connsiteX1" fmla="*/ 3439432 w 3439432"/>
              <a:gd name="connsiteY1" fmla="*/ 0 h 3785157"/>
              <a:gd name="connsiteX2" fmla="*/ 3439432 w 3439432"/>
              <a:gd name="connsiteY2" fmla="*/ 3697836 h 3785157"/>
              <a:gd name="connsiteX3" fmla="*/ 3318024 w 3439432"/>
              <a:gd name="connsiteY3" fmla="*/ 3729054 h 3785157"/>
              <a:gd name="connsiteX4" fmla="*/ 2761488 w 3439432"/>
              <a:gd name="connsiteY4" fmla="*/ 3785157 h 3785157"/>
              <a:gd name="connsiteX5" fmla="*/ 0 w 3439432"/>
              <a:gd name="connsiteY5" fmla="*/ 1023669 h 3785157"/>
              <a:gd name="connsiteX6" fmla="*/ 124151 w 3439432"/>
              <a:gd name="connsiteY6" fmla="*/ 202487 h 3785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439432" h="3785157">
                <a:moveTo>
                  <a:pt x="198262" y="0"/>
                </a:moveTo>
                <a:lnTo>
                  <a:pt x="3439432" y="0"/>
                </a:lnTo>
                <a:lnTo>
                  <a:pt x="3439432" y="3697836"/>
                </a:lnTo>
                <a:lnTo>
                  <a:pt x="3318024" y="3729054"/>
                </a:lnTo>
                <a:cubicBezTo>
                  <a:pt x="3138258" y="3765839"/>
                  <a:pt x="2952129" y="3785157"/>
                  <a:pt x="2761488" y="3785157"/>
                </a:cubicBezTo>
                <a:cubicBezTo>
                  <a:pt x="1236360" y="3785157"/>
                  <a:pt x="0" y="2548797"/>
                  <a:pt x="0" y="1023669"/>
                </a:cubicBezTo>
                <a:cubicBezTo>
                  <a:pt x="0" y="737708"/>
                  <a:pt x="43466" y="461898"/>
                  <a:pt x="124151" y="202487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83D471F3-782A-4BA1-9CAB-FF5CDF0A75E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18761" y="-4332"/>
            <a:ext cx="3273238" cy="3618965"/>
          </a:xfrm>
          <a:custGeom>
            <a:avLst/>
            <a:gdLst>
              <a:gd name="connsiteX0" fmla="*/ 210437 w 3273238"/>
              <a:gd name="connsiteY0" fmla="*/ 0 h 3618965"/>
              <a:gd name="connsiteX1" fmla="*/ 3273238 w 3273238"/>
              <a:gd name="connsiteY1" fmla="*/ 0 h 3618965"/>
              <a:gd name="connsiteX2" fmla="*/ 3273238 w 3273238"/>
              <a:gd name="connsiteY2" fmla="*/ 3526409 h 3618965"/>
              <a:gd name="connsiteX3" fmla="*/ 3118338 w 3273238"/>
              <a:gd name="connsiteY3" fmla="*/ 3566238 h 3618965"/>
              <a:gd name="connsiteX4" fmla="*/ 2595295 w 3273238"/>
              <a:gd name="connsiteY4" fmla="*/ 3618965 h 3618965"/>
              <a:gd name="connsiteX5" fmla="*/ 0 w 3273238"/>
              <a:gd name="connsiteY5" fmla="*/ 1023670 h 3618965"/>
              <a:gd name="connsiteX6" fmla="*/ 203951 w 3273238"/>
              <a:gd name="connsiteY6" fmla="*/ 13464 h 36189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73238" h="3618965">
                <a:moveTo>
                  <a:pt x="210437" y="0"/>
                </a:moveTo>
                <a:lnTo>
                  <a:pt x="3273238" y="0"/>
                </a:lnTo>
                <a:lnTo>
                  <a:pt x="3273238" y="3526409"/>
                </a:lnTo>
                <a:lnTo>
                  <a:pt x="3118338" y="3566238"/>
                </a:lnTo>
                <a:cubicBezTo>
                  <a:pt x="2949390" y="3600810"/>
                  <a:pt x="2774463" y="3618965"/>
                  <a:pt x="2595295" y="3618965"/>
                </a:cubicBezTo>
                <a:cubicBezTo>
                  <a:pt x="1161953" y="3618965"/>
                  <a:pt x="0" y="2457012"/>
                  <a:pt x="0" y="1023670"/>
                </a:cubicBezTo>
                <a:cubicBezTo>
                  <a:pt x="0" y="665335"/>
                  <a:pt x="72622" y="323961"/>
                  <a:pt x="203951" y="1346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685" y="49888"/>
            <a:ext cx="2244257" cy="1840847"/>
          </a:xfrm>
          <a:prstGeom prst="rect">
            <a:avLst/>
          </a:prstGeom>
        </p:spPr>
      </p:pic>
      <p:pic>
        <p:nvPicPr>
          <p:cNvPr id="1028" name="Picture 4" descr="How To Get Started with Social Network Analysis | by Mitchell Telatnik |  Towards Data Scienc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8" t="7121" r="16017" b="11761"/>
          <a:stretch/>
        </p:blipFill>
        <p:spPr bwMode="auto">
          <a:xfrm>
            <a:off x="15182" y="3586110"/>
            <a:ext cx="2970708" cy="3235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for post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87" t="18572" r="22041" b="22142"/>
          <a:stretch/>
        </p:blipFill>
        <p:spPr bwMode="auto">
          <a:xfrm>
            <a:off x="9620305" y="115422"/>
            <a:ext cx="2458887" cy="2447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 for post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30" t="18857" r="22613" b="23428"/>
          <a:stretch/>
        </p:blipFill>
        <p:spPr bwMode="auto">
          <a:xfrm>
            <a:off x="5877887" y="1219200"/>
            <a:ext cx="2046575" cy="2006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3989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Quick review: What is a network?</a:t>
            </a:r>
            <a:endParaRPr lang="en-NZ" dirty="0"/>
          </a:p>
        </p:txBody>
      </p:sp>
      <p:pic>
        <p:nvPicPr>
          <p:cNvPr id="2050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53" b="16775"/>
          <a:stretch/>
        </p:blipFill>
        <p:spPr bwMode="auto">
          <a:xfrm>
            <a:off x="838200" y="1872344"/>
            <a:ext cx="4938939" cy="378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60199" y="2873829"/>
            <a:ext cx="34142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dirty="0" smtClean="0"/>
              <a:t>A diagram of </a:t>
            </a:r>
          </a:p>
          <a:p>
            <a:r>
              <a:rPr lang="en-NZ" sz="3600" b="1" dirty="0" smtClean="0">
                <a:solidFill>
                  <a:srgbClr val="FF0000"/>
                </a:solidFill>
              </a:rPr>
              <a:t>Nodes</a:t>
            </a:r>
            <a:r>
              <a:rPr lang="en-NZ" sz="3600" dirty="0" smtClean="0"/>
              <a:t> and </a:t>
            </a:r>
            <a:r>
              <a:rPr lang="en-NZ" sz="3600" b="1" dirty="0" smtClean="0">
                <a:solidFill>
                  <a:srgbClr val="FF0000"/>
                </a:solidFill>
              </a:rPr>
              <a:t>Edges</a:t>
            </a:r>
            <a:endParaRPr lang="en-NZ" sz="3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9960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Properties of edges</a:t>
            </a:r>
            <a:endParaRPr lang="en-NZ" dirty="0"/>
          </a:p>
        </p:txBody>
      </p:sp>
      <p:pic>
        <p:nvPicPr>
          <p:cNvPr id="3074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6" t="7285" r="4000" b="6286"/>
          <a:stretch/>
        </p:blipFill>
        <p:spPr bwMode="auto">
          <a:xfrm>
            <a:off x="2002971" y="1951945"/>
            <a:ext cx="4463143" cy="4205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936171" y="2547257"/>
            <a:ext cx="3027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b="1" dirty="0" smtClean="0"/>
              <a:t>Directed edges</a:t>
            </a:r>
            <a:endParaRPr lang="en-NZ" sz="36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7075714" y="1360714"/>
            <a:ext cx="42780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400" b="1" dirty="0" smtClean="0"/>
              <a:t>Example 1:</a:t>
            </a:r>
          </a:p>
          <a:p>
            <a:r>
              <a:rPr lang="en-NZ" sz="2400" dirty="0" smtClean="0"/>
              <a:t>A </a:t>
            </a:r>
            <a:r>
              <a:rPr lang="en-NZ" sz="2400" dirty="0"/>
              <a:t>twitter user tags another twitter user in a tweet, that relationship is directed</a:t>
            </a:r>
            <a:r>
              <a:rPr lang="en-NZ" sz="2400" dirty="0" smtClean="0"/>
              <a:t>.</a:t>
            </a:r>
          </a:p>
          <a:p>
            <a:endParaRPr lang="en-NZ" sz="2400" dirty="0" smtClean="0"/>
          </a:p>
          <a:p>
            <a:r>
              <a:rPr lang="en-NZ" sz="2400" b="1" dirty="0" smtClean="0"/>
              <a:t>Example 2:</a:t>
            </a:r>
          </a:p>
          <a:p>
            <a:r>
              <a:rPr lang="en-NZ" sz="2400" dirty="0" smtClean="0"/>
              <a:t>A </a:t>
            </a:r>
            <a:r>
              <a:rPr lang="en-NZ" sz="2400" dirty="0"/>
              <a:t>customer (starting node) pays a coffee shop (ending node) for a </a:t>
            </a:r>
            <a:r>
              <a:rPr lang="en-NZ" sz="2400" dirty="0" smtClean="0"/>
              <a:t>coffee.</a:t>
            </a:r>
            <a:endParaRPr lang="en-NZ" sz="2400" b="1" dirty="0"/>
          </a:p>
          <a:p>
            <a:endParaRPr lang="en-NZ" sz="2400" dirty="0"/>
          </a:p>
        </p:txBody>
      </p:sp>
    </p:spTree>
    <p:extLst>
      <p:ext uri="{BB962C8B-B14F-4D97-AF65-F5344CB8AC3E}">
        <p14:creationId xmlns:p14="http://schemas.microsoft.com/office/powerpoint/2010/main" val="2761302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23258" y="521777"/>
            <a:ext cx="3674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b="1" dirty="0" smtClean="0"/>
              <a:t>Un-directed edges</a:t>
            </a:r>
            <a:endParaRPr lang="en-NZ" sz="36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5497286" y="1360714"/>
            <a:ext cx="585651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800" b="1" dirty="0" smtClean="0"/>
              <a:t>Example:</a:t>
            </a:r>
          </a:p>
          <a:p>
            <a:r>
              <a:rPr lang="en-NZ" sz="2800" dirty="0"/>
              <a:t>These relationships are reciprocated by both parties without a clear starting node and ending node. For example, if two people are friends on Facebook, that relationship is undirected. This is because it can be said that Person A is friends with Person B, but it can also be said that Person B is friends with Person A.</a:t>
            </a:r>
          </a:p>
        </p:txBody>
      </p:sp>
      <p:pic>
        <p:nvPicPr>
          <p:cNvPr id="4098" name="Picture 2" descr="Undirected Network - an overview | ScienceDirect Topics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28" b="7439"/>
          <a:stretch/>
        </p:blipFill>
        <p:spPr bwMode="auto">
          <a:xfrm>
            <a:off x="1023258" y="1801409"/>
            <a:ext cx="3660006" cy="364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3061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14400" y="714383"/>
            <a:ext cx="2574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b="1" dirty="0"/>
              <a:t>Edge Weight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16286" y="1360714"/>
            <a:ext cx="623751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800" b="1" dirty="0" smtClean="0"/>
              <a:t>Example:</a:t>
            </a:r>
          </a:p>
          <a:p>
            <a:r>
              <a:rPr lang="en-NZ" sz="2800" dirty="0"/>
              <a:t>An Edge’s weight is the number of times that edge appears between two </a:t>
            </a:r>
            <a:r>
              <a:rPr lang="en-NZ" sz="2800" dirty="0" smtClean="0"/>
              <a:t>nodes</a:t>
            </a:r>
            <a:r>
              <a:rPr lang="en-NZ" sz="2800" dirty="0"/>
              <a:t>. For example, if Person A buys a coffee from a coffee shop 3 times, the edge connecting Person A and the coffee shop will have a weight of 3. </a:t>
            </a:r>
            <a:endParaRPr lang="en-NZ" sz="2800" dirty="0" smtClean="0"/>
          </a:p>
          <a:p>
            <a:r>
              <a:rPr lang="en-NZ" sz="2800" dirty="0" smtClean="0"/>
              <a:t>However</a:t>
            </a:r>
            <a:r>
              <a:rPr lang="en-NZ" sz="2800" dirty="0"/>
              <a:t>, if Person B only buys coffee from the coffee shop once, the edge connecting Person B and the coffee shop will have a weight of 1.</a:t>
            </a:r>
          </a:p>
        </p:txBody>
      </p:sp>
      <p:pic>
        <p:nvPicPr>
          <p:cNvPr id="5122" name="Picture 2" descr="Network Analysis - an overview | ScienceDirect Topic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860" y="2448022"/>
            <a:ext cx="4648200" cy="2657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1577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Properties of nodes</a:t>
            </a:r>
            <a:endParaRPr lang="en-NZ" dirty="0"/>
          </a:p>
        </p:txBody>
      </p:sp>
      <p:sp>
        <p:nvSpPr>
          <p:cNvPr id="5" name="TextBox 4"/>
          <p:cNvSpPr txBox="1"/>
          <p:nvPr/>
        </p:nvSpPr>
        <p:spPr>
          <a:xfrm>
            <a:off x="838200" y="1690688"/>
            <a:ext cx="105156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400" dirty="0"/>
              <a:t>Centrality is a collection of metrics used to quantify how important and influential a specific node is to the network as a whole</a:t>
            </a:r>
            <a:r>
              <a:rPr lang="en-NZ" sz="2400" dirty="0" smtClean="0"/>
              <a:t>.</a:t>
            </a:r>
          </a:p>
          <a:p>
            <a:endParaRPr lang="en-NZ" sz="2400" dirty="0"/>
          </a:p>
          <a:p>
            <a:r>
              <a:rPr lang="en-NZ" sz="2400" dirty="0" smtClean="0"/>
              <a:t>Commonly used centrality measures include:</a:t>
            </a:r>
          </a:p>
          <a:p>
            <a:endParaRPr lang="en-NZ" sz="2400" dirty="0" smtClean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smtClean="0"/>
              <a:t>Degree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smtClean="0"/>
              <a:t>Closeness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err="1" smtClean="0"/>
              <a:t>Betweeness</a:t>
            </a:r>
            <a:endParaRPr lang="en-NZ" sz="2400" dirty="0" smtClean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smtClean="0"/>
              <a:t>Etc.</a:t>
            </a:r>
            <a:endParaRPr lang="en-NZ" sz="2400" dirty="0"/>
          </a:p>
          <a:p>
            <a:r>
              <a:rPr lang="en-NZ" sz="2400" dirty="0" smtClean="0"/>
              <a:t> </a:t>
            </a:r>
            <a:endParaRPr lang="en-NZ" sz="2400" dirty="0"/>
          </a:p>
        </p:txBody>
      </p:sp>
    </p:spTree>
    <p:extLst>
      <p:ext uri="{BB962C8B-B14F-4D97-AF65-F5344CB8AC3E}">
        <p14:creationId xmlns:p14="http://schemas.microsoft.com/office/powerpoint/2010/main" val="396668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Degree</a:t>
            </a:r>
            <a:endParaRPr lang="en-NZ" dirty="0"/>
          </a:p>
        </p:txBody>
      </p:sp>
      <p:sp>
        <p:nvSpPr>
          <p:cNvPr id="4" name="Rectangle 3"/>
          <p:cNvSpPr/>
          <p:nvPr/>
        </p:nvSpPr>
        <p:spPr>
          <a:xfrm>
            <a:off x="6335486" y="1536442"/>
            <a:ext cx="5682341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NZ" sz="3200" b="1" dirty="0" smtClean="0"/>
              <a:t>Undirected networks</a:t>
            </a:r>
          </a:p>
          <a:p>
            <a:r>
              <a:rPr lang="en-NZ" sz="3200" dirty="0" smtClean="0"/>
              <a:t>The </a:t>
            </a:r>
            <a:r>
              <a:rPr lang="en-NZ" sz="3200" dirty="0"/>
              <a:t>number of edges </a:t>
            </a:r>
            <a:r>
              <a:rPr lang="en-NZ" sz="3200" dirty="0" smtClean="0"/>
              <a:t>a </a:t>
            </a:r>
            <a:r>
              <a:rPr lang="en-NZ" sz="3200" dirty="0"/>
              <a:t>node </a:t>
            </a:r>
            <a:r>
              <a:rPr lang="en-NZ" sz="3200" dirty="0" smtClean="0"/>
              <a:t>has in a network.</a:t>
            </a:r>
          </a:p>
          <a:p>
            <a:endParaRPr lang="en-NZ" sz="3200" b="1" dirty="0" smtClean="0"/>
          </a:p>
          <a:p>
            <a:r>
              <a:rPr lang="en-NZ" sz="3200" b="1" dirty="0" smtClean="0"/>
              <a:t>Directed networks</a:t>
            </a:r>
          </a:p>
          <a:p>
            <a:pPr marL="514350" indent="-514350">
              <a:buAutoNum type="arabicPeriod"/>
            </a:pPr>
            <a:r>
              <a:rPr lang="en-NZ" sz="3200" dirty="0" smtClean="0"/>
              <a:t>In-degree: income edges</a:t>
            </a:r>
          </a:p>
          <a:p>
            <a:pPr marL="514350" indent="-514350">
              <a:buAutoNum type="arabicPeriod"/>
            </a:pPr>
            <a:r>
              <a:rPr lang="en-NZ" sz="3200" dirty="0" smtClean="0"/>
              <a:t>Out-degree: outgoing edges</a:t>
            </a:r>
          </a:p>
          <a:p>
            <a:pPr marL="514350" indent="-514350">
              <a:buAutoNum type="arabicPeriod"/>
            </a:pPr>
            <a:r>
              <a:rPr lang="en-NZ" sz="3200" dirty="0" smtClean="0"/>
              <a:t>Degree: total edges</a:t>
            </a:r>
            <a:endParaRPr lang="en-NZ" sz="3200" dirty="0"/>
          </a:p>
          <a:p>
            <a:endParaRPr lang="en-NZ" sz="3200" b="1" dirty="0"/>
          </a:p>
          <a:p>
            <a:endParaRPr lang="en-NZ" sz="32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17143" t="14571" r="16000" b="21857"/>
          <a:stretch/>
        </p:blipFill>
        <p:spPr>
          <a:xfrm>
            <a:off x="894474" y="1607303"/>
            <a:ext cx="5201526" cy="494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50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Closeness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35486" y="1536442"/>
            <a:ext cx="5682341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NZ" sz="3200" dirty="0" smtClean="0"/>
              <a:t>How </a:t>
            </a:r>
            <a:r>
              <a:rPr lang="en-NZ" sz="3200" dirty="0"/>
              <a:t>well connected a node is to every other node in the network</a:t>
            </a:r>
            <a:r>
              <a:rPr lang="en-NZ" sz="3200" dirty="0" smtClean="0"/>
              <a:t>.</a:t>
            </a:r>
          </a:p>
          <a:p>
            <a:endParaRPr lang="en-NZ" sz="3200" dirty="0"/>
          </a:p>
          <a:p>
            <a:r>
              <a:rPr lang="en-NZ" sz="3200" dirty="0" smtClean="0"/>
              <a:t>OR</a:t>
            </a:r>
          </a:p>
          <a:p>
            <a:endParaRPr lang="en-NZ" sz="3200" dirty="0"/>
          </a:p>
          <a:p>
            <a:r>
              <a:rPr lang="en-NZ" sz="3200" dirty="0"/>
              <a:t>A node’s closeness is the average number of hops required to reach every other node in the network.</a:t>
            </a:r>
          </a:p>
        </p:txBody>
      </p:sp>
      <p:pic>
        <p:nvPicPr>
          <p:cNvPr id="6146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16" t="17572" r="19042" b="19000"/>
          <a:stretch/>
        </p:blipFill>
        <p:spPr bwMode="auto">
          <a:xfrm>
            <a:off x="642256" y="1872343"/>
            <a:ext cx="4811487" cy="4833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589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Network-Level </a:t>
            </a:r>
            <a:r>
              <a:rPr lang="en-NZ" dirty="0" smtClean="0"/>
              <a:t>Measures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Z" dirty="0" smtClean="0"/>
              <a:t>These are the metrics to evaluate </a:t>
            </a:r>
            <a:r>
              <a:rPr lang="en-NZ" dirty="0"/>
              <a:t>the entire network instead of a single node in </a:t>
            </a:r>
            <a:r>
              <a:rPr lang="en-NZ" dirty="0" smtClean="0"/>
              <a:t>it, such as:</a:t>
            </a:r>
          </a:p>
          <a:p>
            <a:pPr marL="0" indent="0">
              <a:buNone/>
            </a:pPr>
            <a:endParaRPr lang="en-NZ" dirty="0"/>
          </a:p>
          <a:p>
            <a:pPr marL="0" indent="0">
              <a:buNone/>
            </a:pPr>
            <a:r>
              <a:rPr lang="en-NZ" b="1" dirty="0" smtClean="0"/>
              <a:t>Network size:</a:t>
            </a:r>
            <a:r>
              <a:rPr lang="en-NZ" dirty="0" smtClean="0"/>
              <a:t> number of nodes in a network</a:t>
            </a:r>
          </a:p>
          <a:p>
            <a:pPr marL="0" indent="0">
              <a:buNone/>
            </a:pPr>
            <a:r>
              <a:rPr lang="en-NZ" b="1" dirty="0" smtClean="0"/>
              <a:t>Network density:</a:t>
            </a:r>
            <a:r>
              <a:rPr lang="en-NZ" dirty="0" smtClean="0"/>
              <a:t> </a:t>
            </a:r>
            <a:r>
              <a:rPr lang="en-NZ" dirty="0"/>
              <a:t>Network density is the number of edges divided by the total possible edges</a:t>
            </a:r>
            <a:r>
              <a:rPr lang="en-NZ" dirty="0" smtClean="0"/>
              <a:t>.</a:t>
            </a:r>
          </a:p>
          <a:p>
            <a:pPr marL="0" indent="0">
              <a:buNone/>
            </a:pPr>
            <a:r>
              <a:rPr lang="en-NZ" dirty="0" smtClean="0"/>
              <a:t>Etc.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2550538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Other characteristics </a:t>
            </a:r>
            <a:endParaRPr lang="en-NZ" dirty="0"/>
          </a:p>
        </p:txBody>
      </p:sp>
      <p:pic>
        <p:nvPicPr>
          <p:cNvPr id="8196" name="Picture 4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44" t="17714" r="12470" b="12285"/>
          <a:stretch/>
        </p:blipFill>
        <p:spPr bwMode="auto">
          <a:xfrm>
            <a:off x="1894114" y="1349828"/>
            <a:ext cx="5279571" cy="533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4278086" y="2906486"/>
            <a:ext cx="889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smtClean="0"/>
              <a:t>Group1</a:t>
            </a:r>
            <a:endParaRPr lang="en-NZ" dirty="0"/>
          </a:p>
        </p:txBody>
      </p:sp>
      <p:sp>
        <p:nvSpPr>
          <p:cNvPr id="6" name="TextBox 5"/>
          <p:cNvSpPr txBox="1"/>
          <p:nvPr/>
        </p:nvSpPr>
        <p:spPr>
          <a:xfrm>
            <a:off x="6542314" y="5529943"/>
            <a:ext cx="9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smtClean="0"/>
              <a:t>Group 2</a:t>
            </a:r>
            <a:endParaRPr lang="en-NZ" dirty="0"/>
          </a:p>
        </p:txBody>
      </p:sp>
      <p:sp>
        <p:nvSpPr>
          <p:cNvPr id="7" name="TextBox 6"/>
          <p:cNvSpPr txBox="1"/>
          <p:nvPr/>
        </p:nvSpPr>
        <p:spPr>
          <a:xfrm>
            <a:off x="7750629" y="2438400"/>
            <a:ext cx="24367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6000" dirty="0" smtClean="0"/>
              <a:t>Groups</a:t>
            </a:r>
            <a:endParaRPr lang="en-NZ" sz="6000" dirty="0"/>
          </a:p>
        </p:txBody>
      </p:sp>
    </p:spTree>
    <p:extLst>
      <p:ext uri="{BB962C8B-B14F-4D97-AF65-F5344CB8AC3E}">
        <p14:creationId xmlns:p14="http://schemas.microsoft.com/office/powerpoint/2010/main" val="550908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750629" y="2438400"/>
            <a:ext cx="249138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6000" dirty="0" smtClean="0"/>
              <a:t>Bridges</a:t>
            </a:r>
            <a:endParaRPr lang="en-NZ" sz="6000" dirty="0"/>
          </a:p>
        </p:txBody>
      </p:sp>
      <p:pic>
        <p:nvPicPr>
          <p:cNvPr id="9218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87" t="17000" r="13899" b="13000"/>
          <a:stretch/>
        </p:blipFill>
        <p:spPr bwMode="auto">
          <a:xfrm>
            <a:off x="1197428" y="787063"/>
            <a:ext cx="5236030" cy="533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7806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5" t="7572" r="11184" b="7714"/>
          <a:stretch/>
        </p:blipFill>
        <p:spPr bwMode="auto">
          <a:xfrm>
            <a:off x="751113" y="533400"/>
            <a:ext cx="4944005" cy="5584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34655" y="2048313"/>
            <a:ext cx="474294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4000" dirty="0" smtClean="0"/>
              <a:t>In directed networks, a </a:t>
            </a:r>
            <a:r>
              <a:rPr lang="en-NZ" sz="4000" dirty="0"/>
              <a:t>hub is a node that has many </a:t>
            </a:r>
            <a:r>
              <a:rPr lang="en-NZ" sz="4000" dirty="0" smtClean="0"/>
              <a:t>outwards edges.</a:t>
            </a:r>
            <a:endParaRPr lang="en-NZ" sz="4000" dirty="0"/>
          </a:p>
        </p:txBody>
      </p:sp>
    </p:spTree>
    <p:extLst>
      <p:ext uri="{BB962C8B-B14F-4D97-AF65-F5344CB8AC3E}">
        <p14:creationId xmlns:p14="http://schemas.microsoft.com/office/powerpoint/2010/main" val="4108055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534655" y="2048313"/>
            <a:ext cx="474294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4000" dirty="0" smtClean="0"/>
              <a:t>A </a:t>
            </a:r>
            <a:r>
              <a:rPr lang="en-NZ" sz="4000" dirty="0"/>
              <a:t>node that has many </a:t>
            </a:r>
            <a:r>
              <a:rPr lang="en-NZ" sz="4000" dirty="0" smtClean="0"/>
              <a:t>inwards edges.</a:t>
            </a:r>
            <a:endParaRPr lang="en-NZ" sz="4000" dirty="0"/>
          </a:p>
        </p:txBody>
      </p:sp>
      <p:pic>
        <p:nvPicPr>
          <p:cNvPr id="11266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16" t="7571" r="11470" b="7143"/>
          <a:stretch/>
        </p:blipFill>
        <p:spPr bwMode="auto">
          <a:xfrm>
            <a:off x="155626" y="76198"/>
            <a:ext cx="5769429" cy="6498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3145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Summarising and visualising data using networks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NZ" b="1" dirty="0" smtClean="0"/>
              <a:t>Nodes:</a:t>
            </a:r>
            <a:r>
              <a:rPr lang="en-NZ" dirty="0" smtClean="0"/>
              <a:t> </a:t>
            </a:r>
          </a:p>
          <a:p>
            <a:pPr lvl="1"/>
            <a:r>
              <a:rPr lang="en-NZ" dirty="0" smtClean="0"/>
              <a:t>size, colour, icons, font, styles etc.</a:t>
            </a:r>
          </a:p>
          <a:p>
            <a:pPr lvl="1"/>
            <a:endParaRPr lang="en-NZ" dirty="0" smtClean="0"/>
          </a:p>
          <a:p>
            <a:pPr marL="0" indent="0">
              <a:buNone/>
            </a:pPr>
            <a:r>
              <a:rPr lang="en-NZ" b="1" dirty="0" smtClean="0"/>
              <a:t>Edges:</a:t>
            </a:r>
          </a:p>
          <a:p>
            <a:pPr lvl="1"/>
            <a:r>
              <a:rPr lang="en-NZ" dirty="0" smtClean="0"/>
              <a:t> direction, weight, style</a:t>
            </a:r>
          </a:p>
          <a:p>
            <a:pPr marL="0" indent="0">
              <a:buNone/>
            </a:pPr>
            <a:endParaRPr lang="en-NZ" dirty="0"/>
          </a:p>
          <a:p>
            <a:pPr marL="0" indent="0">
              <a:buNone/>
            </a:pPr>
            <a:r>
              <a:rPr lang="en-NZ" b="1" dirty="0" smtClean="0"/>
              <a:t>Network:</a:t>
            </a:r>
          </a:p>
          <a:p>
            <a:pPr lvl="1"/>
            <a:r>
              <a:rPr lang="en-NZ" dirty="0" smtClean="0"/>
              <a:t>Temporal slicing / animation / evolutionary networks</a:t>
            </a:r>
          </a:p>
          <a:p>
            <a:pPr lvl="1"/>
            <a:r>
              <a:rPr lang="en-NZ" dirty="0" smtClean="0"/>
              <a:t>Geospatial overlying</a:t>
            </a:r>
          </a:p>
          <a:p>
            <a:pPr lvl="1"/>
            <a:r>
              <a:rPr lang="en-NZ" dirty="0" smtClean="0"/>
              <a:t>Hierarchical layouts</a:t>
            </a:r>
          </a:p>
          <a:p>
            <a:pPr lvl="1"/>
            <a:r>
              <a:rPr lang="en-NZ" dirty="0" smtClean="0"/>
              <a:t>Clustering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477569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714" y="573768"/>
            <a:ext cx="10515600" cy="6018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b="1" dirty="0" smtClean="0"/>
              <a:t>Nodes:</a:t>
            </a:r>
            <a:r>
              <a:rPr lang="en-NZ" dirty="0" smtClean="0"/>
              <a:t> size, colour, icons, font, styles etc.</a:t>
            </a:r>
          </a:p>
        </p:txBody>
      </p:sp>
      <p:pic>
        <p:nvPicPr>
          <p:cNvPr id="12290" name="Picture 2" descr="Image for po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179" y="1635352"/>
            <a:ext cx="10610850" cy="3676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802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b="1" dirty="0" smtClean="0"/>
              <a:t>Edges: </a:t>
            </a:r>
            <a:r>
              <a:rPr lang="en-NZ" dirty="0" smtClean="0"/>
              <a:t>direction, weight, style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13318" name="Picture 6" descr="Fig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534050"/>
            <a:ext cx="11539288" cy="3876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4353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dirty="0" smtClean="0"/>
              <a:t>Temporal slices 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9965" y="0"/>
            <a:ext cx="9212035" cy="6683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465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dirty="0" smtClean="0"/>
              <a:t>Temporal slices 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71" y="0"/>
            <a:ext cx="9551791" cy="671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748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dirty="0" smtClean="0"/>
              <a:t>Geospatial networks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t="3389"/>
          <a:stretch/>
        </p:blipFill>
        <p:spPr>
          <a:xfrm>
            <a:off x="370114" y="892627"/>
            <a:ext cx="10314579" cy="5693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4849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Network analysis in R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NZ" dirty="0" smtClean="0"/>
              <a:t>A range a libraries for several types of networks</a:t>
            </a:r>
          </a:p>
          <a:p>
            <a:pPr marL="0" indent="0">
              <a:buNone/>
            </a:pPr>
            <a:endParaRPr lang="en-NZ" dirty="0" smtClean="0"/>
          </a:p>
          <a:p>
            <a:pPr marL="0" indent="0">
              <a:buNone/>
            </a:pPr>
            <a:r>
              <a:rPr lang="en-NZ" dirty="0" err="1" smtClean="0"/>
              <a:t>igraph</a:t>
            </a:r>
            <a:endParaRPr lang="en-NZ" dirty="0" smtClean="0"/>
          </a:p>
          <a:p>
            <a:pPr marL="0" indent="0">
              <a:buNone/>
            </a:pPr>
            <a:r>
              <a:rPr lang="en-NZ" dirty="0">
                <a:hlinkClick r:id="rId2"/>
              </a:rPr>
              <a:t>https://igraph.org</a:t>
            </a:r>
            <a:r>
              <a:rPr lang="en-NZ" dirty="0" smtClean="0">
                <a:hlinkClick r:id="rId2"/>
              </a:rPr>
              <a:t>/</a:t>
            </a:r>
            <a:r>
              <a:rPr lang="en-NZ" dirty="0" smtClean="0"/>
              <a:t> </a:t>
            </a:r>
            <a:endParaRPr lang="en-NZ" dirty="0"/>
          </a:p>
          <a:p>
            <a:pPr marL="0" indent="0">
              <a:buNone/>
            </a:pPr>
            <a:r>
              <a:rPr lang="en-NZ" dirty="0" smtClean="0"/>
              <a:t>Boring and hard</a:t>
            </a:r>
          </a:p>
          <a:p>
            <a:pPr marL="0" indent="0">
              <a:buNone/>
            </a:pPr>
            <a:endParaRPr lang="en-NZ" dirty="0" smtClean="0"/>
          </a:p>
          <a:p>
            <a:pPr marL="0" indent="0">
              <a:buNone/>
            </a:pPr>
            <a:r>
              <a:rPr lang="en-NZ" dirty="0" err="1"/>
              <a:t>visNetwork</a:t>
            </a:r>
            <a:endParaRPr lang="en-NZ" dirty="0" smtClean="0"/>
          </a:p>
          <a:p>
            <a:pPr marL="0" indent="0">
              <a:buNone/>
            </a:pPr>
            <a:r>
              <a:rPr lang="en-NZ" dirty="0">
                <a:hlinkClick r:id="rId3"/>
              </a:rPr>
              <a:t>https://datastorm-open.github.io/visNetwork</a:t>
            </a:r>
            <a:r>
              <a:rPr lang="en-NZ" dirty="0" smtClean="0">
                <a:hlinkClick r:id="rId3"/>
              </a:rPr>
              <a:t>/</a:t>
            </a:r>
            <a:endParaRPr lang="en-NZ" dirty="0" smtClean="0"/>
          </a:p>
          <a:p>
            <a:pPr marL="0" indent="0">
              <a:buNone/>
            </a:pPr>
            <a:r>
              <a:rPr lang="en-NZ" dirty="0" smtClean="0"/>
              <a:t>Interactive and easy</a:t>
            </a:r>
          </a:p>
        </p:txBody>
      </p:sp>
    </p:spTree>
    <p:extLst>
      <p:ext uri="{BB962C8B-B14F-4D97-AF65-F5344CB8AC3E}">
        <p14:creationId xmlns:p14="http://schemas.microsoft.com/office/powerpoint/2010/main" val="1141059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Exercise: download </a:t>
            </a:r>
            <a:r>
              <a:rPr lang="en-NZ" dirty="0"/>
              <a:t>workshop </a:t>
            </a:r>
            <a:r>
              <a:rPr lang="en-NZ" dirty="0" smtClean="0"/>
              <a:t>material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Z" dirty="0" smtClean="0"/>
              <a:t>Open </a:t>
            </a:r>
            <a:r>
              <a:rPr lang="en-NZ" dirty="0" err="1" smtClean="0"/>
              <a:t>Rstudio</a:t>
            </a:r>
            <a:endParaRPr lang="en-NZ" dirty="0" smtClean="0"/>
          </a:p>
          <a:p>
            <a:pPr marL="0" indent="0">
              <a:buNone/>
            </a:pPr>
            <a:endParaRPr lang="en-NZ" dirty="0"/>
          </a:p>
          <a:p>
            <a:pPr marL="0" indent="0">
              <a:buNone/>
            </a:pPr>
            <a:r>
              <a:rPr lang="en-NZ" sz="2000" dirty="0" err="1"/>
              <a:t>download.file</a:t>
            </a:r>
            <a:r>
              <a:rPr lang="en-NZ" sz="2000" dirty="0"/>
              <a:t>('https://github.com/</a:t>
            </a:r>
            <a:r>
              <a:rPr lang="en-NZ" sz="2000" dirty="0" err="1"/>
              <a:t>mubashirqasim</a:t>
            </a:r>
            <a:r>
              <a:rPr lang="en-NZ" sz="2000" dirty="0"/>
              <a:t>/tpm_workshop_2020/archive/master.zip')</a:t>
            </a:r>
            <a:endParaRPr lang="en-NZ" sz="2000" dirty="0" smtClean="0"/>
          </a:p>
          <a:p>
            <a:pPr marL="0" indent="0">
              <a:buNone/>
            </a:pPr>
            <a:r>
              <a:rPr lang="en-NZ" sz="2000" dirty="0"/>
              <a:t>unzip('master.zip</a:t>
            </a:r>
            <a:r>
              <a:rPr lang="en-NZ" sz="2000" dirty="0" smtClean="0"/>
              <a:t>')</a:t>
            </a:r>
          </a:p>
          <a:p>
            <a:pPr marL="0" indent="0">
              <a:buNone/>
            </a:pPr>
            <a:endParaRPr lang="en-NZ" sz="2000" dirty="0"/>
          </a:p>
          <a:p>
            <a:pPr marL="0" indent="0">
              <a:buNone/>
            </a:pPr>
            <a:endParaRPr lang="en-NZ" sz="2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3748087"/>
            <a:ext cx="5248275" cy="301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0614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Resources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hlinkClick r:id="rId2"/>
              </a:rPr>
              <a:t>https://igraph.org</a:t>
            </a:r>
            <a:r>
              <a:rPr lang="en-NZ" dirty="0" smtClean="0">
                <a:hlinkClick r:id="rId2"/>
              </a:rPr>
              <a:t>/</a:t>
            </a:r>
          </a:p>
          <a:p>
            <a:r>
              <a:rPr lang="en-NZ" dirty="0">
                <a:hlinkClick r:id="rId2"/>
              </a:rPr>
              <a:t>https://kateto.net/networks-r-igraph</a:t>
            </a:r>
          </a:p>
          <a:p>
            <a:r>
              <a:rPr lang="en-NZ" dirty="0" smtClean="0">
                <a:hlinkClick r:id="rId2"/>
              </a:rPr>
              <a:t>https</a:t>
            </a:r>
            <a:r>
              <a:rPr lang="en-NZ" dirty="0">
                <a:hlinkClick r:id="rId2"/>
              </a:rPr>
              <a:t>://</a:t>
            </a:r>
            <a:r>
              <a:rPr lang="en-NZ" dirty="0" smtClean="0">
                <a:hlinkClick r:id="rId2"/>
              </a:rPr>
              <a:t>towardsdatascience.com/how-to-get-started-with-social-network-analysis-6d527685d374</a:t>
            </a:r>
            <a:endParaRPr lang="en-NZ" dirty="0" smtClean="0"/>
          </a:p>
          <a:p>
            <a:r>
              <a:rPr lang="en-NZ" dirty="0">
                <a:hlinkClick r:id="rId3"/>
              </a:rPr>
              <a:t>https://datastorm-open.github.io/visNetwork</a:t>
            </a:r>
            <a:r>
              <a:rPr lang="en-NZ" dirty="0" smtClean="0">
                <a:hlinkClick r:id="rId3"/>
              </a:rPr>
              <a:t>/</a:t>
            </a:r>
            <a:endParaRPr lang="en-NZ" dirty="0" smtClean="0"/>
          </a:p>
          <a:p>
            <a:r>
              <a:rPr lang="en-NZ">
                <a:hlinkClick r:id="rId4"/>
              </a:rPr>
              <a:t>https</a:t>
            </a:r>
            <a:r>
              <a:rPr lang="en-NZ">
                <a:hlinkClick r:id="rId4"/>
              </a:rPr>
              <a:t>://</a:t>
            </a:r>
            <a:r>
              <a:rPr lang="en-NZ" smtClean="0">
                <a:hlinkClick r:id="rId4"/>
              </a:rPr>
              <a:t>cran.r-project.org/web/packages/visNetwork/vignettes/Introduction-to-visNetwork.html</a:t>
            </a:r>
            <a:endParaRPr lang="en-NZ" smtClean="0"/>
          </a:p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5363892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4781794_Research presentation_RVA_v3" id="{DF2794B4-2314-4F87-8639-5DCB9EEE28EE}" vid="{3B969E49-204F-4FF6-BD10-D26195B8D4D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3C7D9E6-B0D9-433E-BD46-EB60F64F4DA8}">
  <ds:schemaRefs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16c05727-aa75-4e4a-9b5f-8a80a1165891"/>
    <ds:schemaRef ds:uri="71af3243-3dd4-4a8d-8c0d-dd76da1f02a5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B2AB02E3-5ADF-4BF0-9C1B-35CDF3FE95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CA875DA-F9FD-4F83-A049-3B1027B542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Research presentation</Template>
  <TotalTime>0</TotalTime>
  <Words>547</Words>
  <Application>Microsoft Office PowerPoint</Application>
  <PresentationFormat>Widescreen</PresentationFormat>
  <Paragraphs>103</Paragraphs>
  <Slides>22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Franklin Gothic Book</vt:lpstr>
      <vt:lpstr>Segoe UI</vt:lpstr>
      <vt:lpstr>Office Theme</vt:lpstr>
      <vt:lpstr>Introduction to Networks in R</vt:lpstr>
      <vt:lpstr>Quick review: What is a network?</vt:lpstr>
      <vt:lpstr>Properties of edges</vt:lpstr>
      <vt:lpstr>PowerPoint Presentation</vt:lpstr>
      <vt:lpstr>PowerPoint Presentation</vt:lpstr>
      <vt:lpstr>Properties of nodes</vt:lpstr>
      <vt:lpstr>Degree</vt:lpstr>
      <vt:lpstr>Closeness</vt:lpstr>
      <vt:lpstr>Network-Level Measures</vt:lpstr>
      <vt:lpstr>Other characteristics </vt:lpstr>
      <vt:lpstr>PowerPoint Presentation</vt:lpstr>
      <vt:lpstr>PowerPoint Presentation</vt:lpstr>
      <vt:lpstr>PowerPoint Presentation</vt:lpstr>
      <vt:lpstr>Summarising and visualising data using networks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Network analysis in R</vt:lpstr>
      <vt:lpstr>Exercise: download workshop material</vt:lpstr>
      <vt:lpstr>Resources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2020-11-02T01:46:19Z</dcterms:created>
  <dcterms:modified xsi:type="dcterms:W3CDTF">2020-11-03T20:48:07Z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