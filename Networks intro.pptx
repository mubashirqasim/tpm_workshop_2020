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58" r:id="rId7"/>
    <p:sldId id="261" r:id="rId8"/>
    <p:sldId id="262" r:id="rId9"/>
    <p:sldId id="263" r:id="rId10"/>
    <p:sldId id="260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0" r:id="rId20"/>
    <p:sldId id="273" r:id="rId21"/>
    <p:sldId id="275" r:id="rId22"/>
    <p:sldId id="274" r:id="rId23"/>
    <p:sldId id="276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889" autoAdjust="0"/>
  </p:normalViewPr>
  <p:slideViewPr>
    <p:cSldViewPr snapToGrid="0">
      <p:cViewPr>
        <p:scale>
          <a:sx n="70" d="100"/>
          <a:sy n="70" d="100"/>
        </p:scale>
        <p:origin x="116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89B-A0AC-4482-8592-5C96F2309420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29299-61FF-4B93-ADA6-2FD5975D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EB223-FFC0-462A-A3B8-EAA7CE0F8CBD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49E9A-41F7-4779-A581-48A7C374A2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smtClean="0"/>
              <a:t>Source: https://towardsdatascience.com/scholarly-network-analysis-22cd352c0f86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0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smtClean="0"/>
              <a:t>https://journals.plos.org/plosone/article/figure?id=10.1371/journal.pone.0194777.g004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63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smtClean="0"/>
              <a:t>https://journals.plos.org/plosone/article/figure?id=10.1371/journal.pone.0194777.g004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45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smtClean="0"/>
              <a:t>https://journals.plos.org/plosone/article/figure?id=10.1371/journal.pone.0194777.g004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60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smtClean="0"/>
              <a:t>https://journals.plos.org/plosone/article/figure?id=10.1371/journal.pone.0194777.g004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7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11/2/2020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how-to-get-started-with-social-network-analysis-6d527685d37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942" y="5203763"/>
            <a:ext cx="7189362" cy="735644"/>
          </a:xfrm>
        </p:spPr>
        <p:txBody>
          <a:bodyPr anchor="t">
            <a:normAutofit/>
          </a:bodyPr>
          <a:lstStyle/>
          <a:p>
            <a:pPr algn="l"/>
            <a:r>
              <a:rPr lang="en-US" sz="4400" dirty="0" smtClean="0">
                <a:latin typeface="Franklin Gothic Book" panose="020B0503020102020204" pitchFamily="34" charset="0"/>
                <a:cs typeface="Segoe UI" panose="020B0502040204020203" pitchFamily="34" charset="0"/>
              </a:rPr>
              <a:t>Introduction to Networks in R</a:t>
            </a:r>
            <a:endParaRPr lang="en-US" sz="4400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685" y="49888"/>
            <a:ext cx="2244257" cy="1840847"/>
          </a:xfrm>
          <a:prstGeom prst="rect">
            <a:avLst/>
          </a:prstGeom>
        </p:spPr>
      </p:pic>
      <p:pic>
        <p:nvPicPr>
          <p:cNvPr id="1028" name="Picture 4" descr="How To Get Started with Social Network Analysis | by Mitchell Telatnik |  Towards Data Scienc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8" t="7121" r="16017" b="11761"/>
          <a:stretch/>
        </p:blipFill>
        <p:spPr bwMode="auto">
          <a:xfrm>
            <a:off x="15182" y="3586110"/>
            <a:ext cx="2970708" cy="323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for post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7" t="18572" r="22041" b="22142"/>
          <a:stretch/>
        </p:blipFill>
        <p:spPr bwMode="auto">
          <a:xfrm>
            <a:off x="9620305" y="115422"/>
            <a:ext cx="2458887" cy="244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for post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0" t="18857" r="22613" b="23428"/>
          <a:stretch/>
        </p:blipFill>
        <p:spPr bwMode="auto">
          <a:xfrm>
            <a:off x="5877887" y="1219200"/>
            <a:ext cx="2046575" cy="200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Quick review: What is a network?</a:t>
            </a:r>
            <a:endParaRPr lang="en-NZ" dirty="0"/>
          </a:p>
        </p:txBody>
      </p:sp>
      <p:pic>
        <p:nvPicPr>
          <p:cNvPr id="2050" name="Picture 2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3" b="16775"/>
          <a:stretch/>
        </p:blipFill>
        <p:spPr bwMode="auto">
          <a:xfrm>
            <a:off x="838200" y="1872344"/>
            <a:ext cx="4938939" cy="378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60199" y="2873829"/>
            <a:ext cx="34142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dirty="0" smtClean="0"/>
              <a:t>A diagram of </a:t>
            </a:r>
          </a:p>
          <a:p>
            <a:r>
              <a:rPr lang="en-NZ" sz="3600" b="1" dirty="0" smtClean="0">
                <a:solidFill>
                  <a:srgbClr val="FF0000"/>
                </a:solidFill>
              </a:rPr>
              <a:t>Nodes</a:t>
            </a:r>
            <a:r>
              <a:rPr lang="en-NZ" sz="3600" dirty="0" smtClean="0"/>
              <a:t> and </a:t>
            </a:r>
            <a:r>
              <a:rPr lang="en-NZ" sz="3600" b="1" dirty="0" smtClean="0">
                <a:solidFill>
                  <a:srgbClr val="FF0000"/>
                </a:solidFill>
              </a:rPr>
              <a:t>Edges</a:t>
            </a:r>
            <a:endParaRPr lang="en-NZ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96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Properties of edges</a:t>
            </a:r>
            <a:endParaRPr lang="en-NZ" dirty="0"/>
          </a:p>
        </p:txBody>
      </p:sp>
      <p:pic>
        <p:nvPicPr>
          <p:cNvPr id="3074" name="Picture 2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t="7285" r="4000" b="6286"/>
          <a:stretch/>
        </p:blipFill>
        <p:spPr bwMode="auto">
          <a:xfrm>
            <a:off x="2002971" y="1951945"/>
            <a:ext cx="4463143" cy="420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36171" y="2547257"/>
            <a:ext cx="3027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b="1" dirty="0" smtClean="0"/>
              <a:t>Directed edges</a:t>
            </a:r>
            <a:endParaRPr lang="en-NZ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075714" y="1360714"/>
            <a:ext cx="42780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b="1" dirty="0" smtClean="0"/>
              <a:t>Example 1:</a:t>
            </a:r>
          </a:p>
          <a:p>
            <a:r>
              <a:rPr lang="en-NZ" sz="2400" dirty="0" smtClean="0"/>
              <a:t>A </a:t>
            </a:r>
            <a:r>
              <a:rPr lang="en-NZ" sz="2400" dirty="0"/>
              <a:t>twitter user tags another twitter user in a tweet, that relationship is directed</a:t>
            </a:r>
            <a:r>
              <a:rPr lang="en-NZ" sz="2400" dirty="0" smtClean="0"/>
              <a:t>.</a:t>
            </a:r>
          </a:p>
          <a:p>
            <a:endParaRPr lang="en-NZ" sz="2400" dirty="0" smtClean="0"/>
          </a:p>
          <a:p>
            <a:r>
              <a:rPr lang="en-NZ" sz="2400" b="1" dirty="0" smtClean="0"/>
              <a:t>Example 2:</a:t>
            </a:r>
          </a:p>
          <a:p>
            <a:r>
              <a:rPr lang="en-NZ" sz="2400" dirty="0" smtClean="0"/>
              <a:t>A </a:t>
            </a:r>
            <a:r>
              <a:rPr lang="en-NZ" sz="2400" dirty="0"/>
              <a:t>customer (starting node) pays a coffee shop (ending node) for a </a:t>
            </a:r>
            <a:r>
              <a:rPr lang="en-NZ" sz="2400" dirty="0" smtClean="0"/>
              <a:t>coffee.</a:t>
            </a:r>
            <a:endParaRPr lang="en-NZ" sz="2400" b="1" dirty="0"/>
          </a:p>
          <a:p>
            <a:endParaRPr lang="en-NZ" sz="2400" dirty="0"/>
          </a:p>
        </p:txBody>
      </p:sp>
    </p:spTree>
    <p:extLst>
      <p:ext uri="{BB962C8B-B14F-4D97-AF65-F5344CB8AC3E}">
        <p14:creationId xmlns:p14="http://schemas.microsoft.com/office/powerpoint/2010/main" val="276130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23258" y="521777"/>
            <a:ext cx="3674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b="1" dirty="0" smtClean="0"/>
              <a:t>Un-directed edges</a:t>
            </a:r>
            <a:endParaRPr lang="en-NZ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497286" y="1360714"/>
            <a:ext cx="58565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b="1" dirty="0" smtClean="0"/>
              <a:t>Example:</a:t>
            </a:r>
          </a:p>
          <a:p>
            <a:r>
              <a:rPr lang="en-NZ" sz="2800" dirty="0"/>
              <a:t>These relationships are reciprocated by both parties without a clear starting node and ending node. For example, if two people are friends on Facebook, that relationship is undirected. This is because it can be said that Person A is friends with Person B, but it can also be said that Person B is friends with Person A.</a:t>
            </a:r>
          </a:p>
        </p:txBody>
      </p:sp>
      <p:pic>
        <p:nvPicPr>
          <p:cNvPr id="4098" name="Picture 2" descr="Undirected Network - an overview | ScienceDirect Topic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8" b="7439"/>
          <a:stretch/>
        </p:blipFill>
        <p:spPr bwMode="auto">
          <a:xfrm>
            <a:off x="1023258" y="1801409"/>
            <a:ext cx="3660006" cy="364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06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714383"/>
            <a:ext cx="2574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b="1" dirty="0"/>
              <a:t>Edge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16286" y="1360714"/>
            <a:ext cx="62375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b="1" dirty="0" smtClean="0"/>
              <a:t>Example:</a:t>
            </a:r>
          </a:p>
          <a:p>
            <a:r>
              <a:rPr lang="en-NZ" sz="2800" dirty="0"/>
              <a:t>An Edge’s weight is the number of times that edge appears between two </a:t>
            </a:r>
            <a:r>
              <a:rPr lang="en-NZ" sz="2800" dirty="0" smtClean="0"/>
              <a:t>nodes</a:t>
            </a:r>
            <a:r>
              <a:rPr lang="en-NZ" sz="2800" dirty="0"/>
              <a:t>. For example, if Person A buys a coffee from a coffee shop 3 times, the edge connecting Person A and the coffee shop will have a weight of 3. </a:t>
            </a:r>
            <a:endParaRPr lang="en-NZ" sz="2800" dirty="0" smtClean="0"/>
          </a:p>
          <a:p>
            <a:r>
              <a:rPr lang="en-NZ" sz="2800" dirty="0" smtClean="0"/>
              <a:t>However</a:t>
            </a:r>
            <a:r>
              <a:rPr lang="en-NZ" sz="2800" dirty="0"/>
              <a:t>, if Person B only buys coffee from the coffee shop once, the edge connecting Person B and the coffee shop will have a weight of 1.</a:t>
            </a:r>
          </a:p>
        </p:txBody>
      </p:sp>
      <p:pic>
        <p:nvPicPr>
          <p:cNvPr id="5122" name="Picture 2" descr="Network Analysis - an overview | ScienceDirect Top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0" y="2448022"/>
            <a:ext cx="4648200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57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Properties of nodes</a:t>
            </a:r>
            <a:endParaRPr lang="en-NZ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/>
              <a:t>Centrality is a collection of metrics used to quantify how important and influential a specific node is to the network as a whole</a:t>
            </a:r>
            <a:r>
              <a:rPr lang="en-NZ" sz="2400" dirty="0" smtClean="0"/>
              <a:t>.</a:t>
            </a:r>
          </a:p>
          <a:p>
            <a:endParaRPr lang="en-NZ" sz="2400" dirty="0"/>
          </a:p>
          <a:p>
            <a:r>
              <a:rPr lang="en-NZ" sz="2400" dirty="0" smtClean="0"/>
              <a:t>Commonly used centrality measures include:</a:t>
            </a:r>
          </a:p>
          <a:p>
            <a:endParaRPr lang="en-NZ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NZ" sz="2400" dirty="0" smtClean="0"/>
              <a:t>Degree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NZ" sz="2400" dirty="0" smtClean="0"/>
              <a:t>Closeness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NZ" sz="2400" dirty="0" err="1" smtClean="0"/>
              <a:t>Betweeness</a:t>
            </a:r>
            <a:endParaRPr lang="en-NZ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NZ" sz="2400" dirty="0" smtClean="0"/>
              <a:t>Etc.</a:t>
            </a:r>
            <a:endParaRPr lang="en-NZ" sz="2400" dirty="0"/>
          </a:p>
          <a:p>
            <a:r>
              <a:rPr lang="en-NZ" sz="2400" dirty="0" smtClean="0"/>
              <a:t> </a:t>
            </a:r>
            <a:endParaRPr lang="en-NZ" sz="2400" dirty="0"/>
          </a:p>
        </p:txBody>
      </p:sp>
    </p:spTree>
    <p:extLst>
      <p:ext uri="{BB962C8B-B14F-4D97-AF65-F5344CB8AC3E}">
        <p14:creationId xmlns:p14="http://schemas.microsoft.com/office/powerpoint/2010/main" val="39666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Degree</a:t>
            </a:r>
            <a:endParaRPr lang="en-NZ" dirty="0"/>
          </a:p>
        </p:txBody>
      </p:sp>
      <p:sp>
        <p:nvSpPr>
          <p:cNvPr id="4" name="Rectangle 3"/>
          <p:cNvSpPr/>
          <p:nvPr/>
        </p:nvSpPr>
        <p:spPr>
          <a:xfrm>
            <a:off x="6335486" y="1536442"/>
            <a:ext cx="568234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b="1" dirty="0" smtClean="0"/>
              <a:t>Undirected networks</a:t>
            </a:r>
          </a:p>
          <a:p>
            <a:r>
              <a:rPr lang="en-NZ" sz="3200" dirty="0" smtClean="0"/>
              <a:t>The </a:t>
            </a:r>
            <a:r>
              <a:rPr lang="en-NZ" sz="3200" dirty="0"/>
              <a:t>number of edges </a:t>
            </a:r>
            <a:r>
              <a:rPr lang="en-NZ" sz="3200" dirty="0" smtClean="0"/>
              <a:t>a </a:t>
            </a:r>
            <a:r>
              <a:rPr lang="en-NZ" sz="3200" dirty="0"/>
              <a:t>node </a:t>
            </a:r>
            <a:r>
              <a:rPr lang="en-NZ" sz="3200" dirty="0" smtClean="0"/>
              <a:t>has in a network.</a:t>
            </a:r>
          </a:p>
          <a:p>
            <a:endParaRPr lang="en-NZ" sz="3200" b="1" dirty="0" smtClean="0"/>
          </a:p>
          <a:p>
            <a:r>
              <a:rPr lang="en-NZ" sz="3200" b="1" dirty="0" smtClean="0"/>
              <a:t>Directed networks</a:t>
            </a:r>
          </a:p>
          <a:p>
            <a:pPr marL="514350" indent="-514350">
              <a:buAutoNum type="arabicPeriod"/>
            </a:pPr>
            <a:r>
              <a:rPr lang="en-NZ" sz="3200" dirty="0" smtClean="0"/>
              <a:t>In-degree: income edges</a:t>
            </a:r>
          </a:p>
          <a:p>
            <a:pPr marL="514350" indent="-514350">
              <a:buAutoNum type="arabicPeriod"/>
            </a:pPr>
            <a:r>
              <a:rPr lang="en-NZ" sz="3200" dirty="0" smtClean="0"/>
              <a:t>Out-degree: outgoing edges</a:t>
            </a:r>
          </a:p>
          <a:p>
            <a:pPr marL="514350" indent="-514350">
              <a:buAutoNum type="arabicPeriod"/>
            </a:pPr>
            <a:r>
              <a:rPr lang="en-NZ" sz="3200" dirty="0" smtClean="0"/>
              <a:t>Degree: total edges</a:t>
            </a:r>
            <a:endParaRPr lang="en-NZ" sz="3200" dirty="0"/>
          </a:p>
          <a:p>
            <a:endParaRPr lang="en-NZ" sz="3200" b="1" dirty="0"/>
          </a:p>
          <a:p>
            <a:endParaRPr lang="en-NZ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7143" t="14571" r="16000" b="21857"/>
          <a:stretch/>
        </p:blipFill>
        <p:spPr>
          <a:xfrm>
            <a:off x="894474" y="1607303"/>
            <a:ext cx="5201526" cy="494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Closeness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35486" y="1536442"/>
            <a:ext cx="568234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dirty="0" smtClean="0"/>
              <a:t>How </a:t>
            </a:r>
            <a:r>
              <a:rPr lang="en-NZ" sz="3200" dirty="0"/>
              <a:t>well connected a node is to every other node in the network</a:t>
            </a:r>
            <a:r>
              <a:rPr lang="en-NZ" sz="3200" dirty="0" smtClean="0"/>
              <a:t>.</a:t>
            </a:r>
          </a:p>
          <a:p>
            <a:endParaRPr lang="en-NZ" sz="3200" dirty="0"/>
          </a:p>
          <a:p>
            <a:r>
              <a:rPr lang="en-NZ" sz="3200" dirty="0" smtClean="0"/>
              <a:t>OR</a:t>
            </a:r>
          </a:p>
          <a:p>
            <a:endParaRPr lang="en-NZ" sz="3200" dirty="0"/>
          </a:p>
          <a:p>
            <a:r>
              <a:rPr lang="en-NZ" sz="3200" dirty="0"/>
              <a:t>A node’s closeness is the average number of hops required to reach every other node in the network.</a:t>
            </a:r>
            <a:endParaRPr lang="en-NZ" sz="3200" dirty="0"/>
          </a:p>
        </p:txBody>
      </p:sp>
      <p:pic>
        <p:nvPicPr>
          <p:cNvPr id="6146" name="Picture 2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6" t="17572" r="19042" b="19000"/>
          <a:stretch/>
        </p:blipFill>
        <p:spPr bwMode="auto">
          <a:xfrm>
            <a:off x="642256" y="1872343"/>
            <a:ext cx="4811487" cy="48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58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Network-Level </a:t>
            </a:r>
            <a:r>
              <a:rPr lang="en-NZ" dirty="0" smtClean="0"/>
              <a:t>Measures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 smtClean="0"/>
              <a:t>These are the metrics to evaluate </a:t>
            </a:r>
            <a:r>
              <a:rPr lang="en-NZ" dirty="0"/>
              <a:t>the entire network instead of a single node in </a:t>
            </a:r>
            <a:r>
              <a:rPr lang="en-NZ" dirty="0" smtClean="0"/>
              <a:t>it, such as: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b="1" dirty="0" smtClean="0"/>
              <a:t>Network size:</a:t>
            </a:r>
            <a:r>
              <a:rPr lang="en-NZ" dirty="0" smtClean="0"/>
              <a:t> number of nodes in a network</a:t>
            </a:r>
          </a:p>
          <a:p>
            <a:pPr marL="0" indent="0">
              <a:buNone/>
            </a:pPr>
            <a:r>
              <a:rPr lang="en-NZ" b="1" dirty="0" smtClean="0"/>
              <a:t>Network density:</a:t>
            </a:r>
            <a:r>
              <a:rPr lang="en-NZ" dirty="0" smtClean="0"/>
              <a:t> </a:t>
            </a:r>
            <a:r>
              <a:rPr lang="en-NZ" dirty="0"/>
              <a:t>Network density is the number of edges divided by the total possible edges</a:t>
            </a:r>
            <a:r>
              <a:rPr lang="en-NZ" dirty="0" smtClean="0"/>
              <a:t>.</a:t>
            </a:r>
          </a:p>
          <a:p>
            <a:pPr marL="0" indent="0">
              <a:buNone/>
            </a:pPr>
            <a:r>
              <a:rPr lang="en-NZ" dirty="0" smtClean="0"/>
              <a:t>Etc.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5053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Other characteristics </a:t>
            </a:r>
            <a:endParaRPr lang="en-NZ" dirty="0"/>
          </a:p>
        </p:txBody>
      </p:sp>
      <p:pic>
        <p:nvPicPr>
          <p:cNvPr id="8196" name="Picture 4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44" t="17714" r="12470" b="12285"/>
          <a:stretch/>
        </p:blipFill>
        <p:spPr bwMode="auto">
          <a:xfrm>
            <a:off x="1894114" y="1349828"/>
            <a:ext cx="5279571" cy="533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78086" y="2906486"/>
            <a:ext cx="889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smtClean="0"/>
              <a:t>Group1</a:t>
            </a:r>
            <a:endParaRPr lang="en-NZ" dirty="0"/>
          </a:p>
        </p:txBody>
      </p:sp>
      <p:sp>
        <p:nvSpPr>
          <p:cNvPr id="6" name="TextBox 5"/>
          <p:cNvSpPr txBox="1"/>
          <p:nvPr/>
        </p:nvSpPr>
        <p:spPr>
          <a:xfrm>
            <a:off x="6542314" y="5529943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smtClean="0"/>
              <a:t>Group 2</a:t>
            </a:r>
            <a:endParaRPr lang="en-NZ" dirty="0"/>
          </a:p>
        </p:txBody>
      </p:sp>
      <p:sp>
        <p:nvSpPr>
          <p:cNvPr id="7" name="TextBox 6"/>
          <p:cNvSpPr txBox="1"/>
          <p:nvPr/>
        </p:nvSpPr>
        <p:spPr>
          <a:xfrm>
            <a:off x="7750629" y="2438400"/>
            <a:ext cx="24367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6000" dirty="0" smtClean="0"/>
              <a:t>Groups</a:t>
            </a:r>
            <a:endParaRPr lang="en-NZ" sz="6000" dirty="0"/>
          </a:p>
        </p:txBody>
      </p:sp>
    </p:spTree>
    <p:extLst>
      <p:ext uri="{BB962C8B-B14F-4D97-AF65-F5344CB8AC3E}">
        <p14:creationId xmlns:p14="http://schemas.microsoft.com/office/powerpoint/2010/main" val="550908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750629" y="2438400"/>
            <a:ext cx="24913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6000" dirty="0" smtClean="0"/>
              <a:t>Bridges</a:t>
            </a:r>
            <a:endParaRPr lang="en-NZ" sz="6000" dirty="0"/>
          </a:p>
        </p:txBody>
      </p:sp>
      <p:pic>
        <p:nvPicPr>
          <p:cNvPr id="9218" name="Picture 2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7" t="17000" r="13899" b="13000"/>
          <a:stretch/>
        </p:blipFill>
        <p:spPr bwMode="auto">
          <a:xfrm>
            <a:off x="1197428" y="787063"/>
            <a:ext cx="523603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806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5" t="7572" r="11184" b="7714"/>
          <a:stretch/>
        </p:blipFill>
        <p:spPr bwMode="auto">
          <a:xfrm>
            <a:off x="751113" y="533400"/>
            <a:ext cx="4944005" cy="558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34655" y="2048313"/>
            <a:ext cx="47429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4000" dirty="0" smtClean="0"/>
              <a:t>In directed networks, a </a:t>
            </a:r>
            <a:r>
              <a:rPr lang="en-NZ" sz="4000" dirty="0"/>
              <a:t>hub is a node that has many </a:t>
            </a:r>
            <a:r>
              <a:rPr lang="en-NZ" sz="4000" dirty="0" smtClean="0"/>
              <a:t>outwards edges.</a:t>
            </a:r>
            <a:endParaRPr lang="en-NZ" sz="4000" dirty="0"/>
          </a:p>
        </p:txBody>
      </p:sp>
    </p:spTree>
    <p:extLst>
      <p:ext uri="{BB962C8B-B14F-4D97-AF65-F5344CB8AC3E}">
        <p14:creationId xmlns:p14="http://schemas.microsoft.com/office/powerpoint/2010/main" val="4108055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34655" y="2048313"/>
            <a:ext cx="4742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4000" dirty="0" smtClean="0"/>
              <a:t>A </a:t>
            </a:r>
            <a:r>
              <a:rPr lang="en-NZ" sz="4000" dirty="0"/>
              <a:t>node that has many </a:t>
            </a:r>
            <a:r>
              <a:rPr lang="en-NZ" sz="4000" dirty="0" smtClean="0"/>
              <a:t>inwards edges.</a:t>
            </a:r>
            <a:endParaRPr lang="en-NZ" sz="4000" dirty="0"/>
          </a:p>
        </p:txBody>
      </p:sp>
      <p:pic>
        <p:nvPicPr>
          <p:cNvPr id="11266" name="Picture 2" descr="Image for po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6" t="7571" r="11470" b="7143"/>
          <a:stretch/>
        </p:blipFill>
        <p:spPr bwMode="auto">
          <a:xfrm>
            <a:off x="155626" y="76198"/>
            <a:ext cx="5769429" cy="649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14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Summarising and visualising data using networks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Z" b="1" dirty="0" smtClean="0"/>
              <a:t>Nodes:</a:t>
            </a:r>
            <a:r>
              <a:rPr lang="en-NZ" dirty="0" smtClean="0"/>
              <a:t> </a:t>
            </a:r>
          </a:p>
          <a:p>
            <a:pPr lvl="1"/>
            <a:r>
              <a:rPr lang="en-NZ" dirty="0" smtClean="0"/>
              <a:t>size, colour, icons, font, styles etc.</a:t>
            </a:r>
          </a:p>
          <a:p>
            <a:pPr lvl="1"/>
            <a:endParaRPr lang="en-NZ" dirty="0" smtClean="0"/>
          </a:p>
          <a:p>
            <a:pPr marL="0" indent="0">
              <a:buNone/>
            </a:pPr>
            <a:r>
              <a:rPr lang="en-NZ" b="1" dirty="0" smtClean="0"/>
              <a:t>Edges:</a:t>
            </a:r>
          </a:p>
          <a:p>
            <a:pPr lvl="1"/>
            <a:r>
              <a:rPr lang="en-NZ" dirty="0" smtClean="0"/>
              <a:t> direction, weight, style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b="1" dirty="0" smtClean="0"/>
              <a:t>Network:</a:t>
            </a:r>
          </a:p>
          <a:p>
            <a:pPr lvl="1"/>
            <a:r>
              <a:rPr lang="en-NZ" dirty="0" smtClean="0"/>
              <a:t>Temporal slicing / animation / evolutionary networks</a:t>
            </a:r>
          </a:p>
          <a:p>
            <a:pPr lvl="1"/>
            <a:r>
              <a:rPr lang="en-NZ" dirty="0" smtClean="0"/>
              <a:t>Geospatial overlying</a:t>
            </a:r>
          </a:p>
          <a:p>
            <a:pPr lvl="1"/>
            <a:r>
              <a:rPr lang="en-NZ" dirty="0" smtClean="0"/>
              <a:t>Hierarchical layouts</a:t>
            </a:r>
          </a:p>
          <a:p>
            <a:pPr lvl="1"/>
            <a:r>
              <a:rPr lang="en-NZ" dirty="0" smtClean="0"/>
              <a:t>Clustering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77569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4" y="573768"/>
            <a:ext cx="10515600" cy="601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b="1" dirty="0" smtClean="0"/>
              <a:t>Nodes:</a:t>
            </a:r>
            <a:r>
              <a:rPr lang="en-NZ" dirty="0" smtClean="0"/>
              <a:t> size, colour, icons, font, styles etc.</a:t>
            </a:r>
          </a:p>
        </p:txBody>
      </p:sp>
      <p:pic>
        <p:nvPicPr>
          <p:cNvPr id="12290" name="Picture 2" descr="Image for po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79" y="1635352"/>
            <a:ext cx="10610850" cy="367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02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4" y="356054"/>
            <a:ext cx="10515600" cy="656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b="1" dirty="0" smtClean="0"/>
              <a:t>Edges: </a:t>
            </a:r>
            <a:r>
              <a:rPr lang="en-NZ" dirty="0" smtClean="0"/>
              <a:t>direction, weight, style</a:t>
            </a:r>
          </a:p>
          <a:p>
            <a:pPr marL="0" indent="0">
              <a:buNone/>
            </a:pPr>
            <a:endParaRPr lang="en-NZ" dirty="0" smtClean="0"/>
          </a:p>
        </p:txBody>
      </p:sp>
      <p:pic>
        <p:nvPicPr>
          <p:cNvPr id="13318" name="Picture 6" descr="Fig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14" y="1534050"/>
            <a:ext cx="11539288" cy="387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35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4" y="356054"/>
            <a:ext cx="10515600" cy="656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 smtClean="0"/>
              <a:t>Temporal slices </a:t>
            </a:r>
          </a:p>
          <a:p>
            <a:pPr marL="0" indent="0">
              <a:buNone/>
            </a:pPr>
            <a:endParaRPr lang="en-NZ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65" y="0"/>
            <a:ext cx="9212035" cy="66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65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4" y="356054"/>
            <a:ext cx="10515600" cy="656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 smtClean="0"/>
              <a:t>Temporal slices </a:t>
            </a:r>
          </a:p>
          <a:p>
            <a:pPr marL="0" indent="0">
              <a:buNone/>
            </a:pPr>
            <a:endParaRPr lang="en-NZ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1" y="0"/>
            <a:ext cx="9551791" cy="67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7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4" y="356054"/>
            <a:ext cx="10515600" cy="656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 smtClean="0"/>
              <a:t>Geospatial networks</a:t>
            </a:r>
          </a:p>
          <a:p>
            <a:pPr marL="0" indent="0">
              <a:buNone/>
            </a:pPr>
            <a:endParaRPr lang="en-NZ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3389"/>
          <a:stretch/>
        </p:blipFill>
        <p:spPr>
          <a:xfrm>
            <a:off x="370114" y="892627"/>
            <a:ext cx="10314579" cy="569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84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err="1" smtClean="0"/>
              <a:t>Excercise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 err="1" smtClean="0"/>
              <a:t>install.packages</a:t>
            </a:r>
            <a:r>
              <a:rPr lang="en-NZ" dirty="0" smtClean="0"/>
              <a:t>(‘</a:t>
            </a:r>
            <a:r>
              <a:rPr lang="en-NZ" dirty="0" err="1" smtClean="0"/>
              <a:t>igraph</a:t>
            </a:r>
            <a:r>
              <a:rPr lang="en-NZ" dirty="0" smtClean="0"/>
              <a:t>’)</a:t>
            </a:r>
          </a:p>
          <a:p>
            <a:pPr marL="0" indent="0">
              <a:buNone/>
            </a:pPr>
            <a:r>
              <a:rPr lang="en-NZ" smtClean="0"/>
              <a:t>library(</a:t>
            </a:r>
            <a:r>
              <a:rPr lang="en-NZ" dirty="0" err="1" smtClean="0"/>
              <a:t>igraph</a:t>
            </a:r>
            <a:r>
              <a:rPr lang="en-NZ" dirty="0" smtClean="0"/>
              <a:t>)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 smtClean="0"/>
              <a:t>https</a:t>
            </a:r>
            <a:r>
              <a:rPr lang="en-NZ" dirty="0"/>
              <a:t>://kateto.net/networks-r-igraph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78085"/>
            <a:ext cx="7251337" cy="189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61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Resources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>
                <a:hlinkClick r:id="rId2"/>
              </a:rPr>
              <a:t>https://igraph.org</a:t>
            </a:r>
            <a:r>
              <a:rPr lang="en-NZ" dirty="0" smtClean="0">
                <a:hlinkClick r:id="rId2"/>
              </a:rPr>
              <a:t>/</a:t>
            </a:r>
          </a:p>
          <a:p>
            <a:r>
              <a:rPr lang="en-NZ" dirty="0">
                <a:hlinkClick r:id="rId2"/>
              </a:rPr>
              <a:t>https://kateto.net/networks-r-igraph</a:t>
            </a:r>
          </a:p>
          <a:p>
            <a:r>
              <a:rPr lang="en-NZ" dirty="0" smtClean="0">
                <a:hlinkClick r:id="rId2"/>
              </a:rPr>
              <a:t>https</a:t>
            </a:r>
            <a:r>
              <a:rPr lang="en-NZ" dirty="0">
                <a:hlinkClick r:id="rId2"/>
              </a:rPr>
              <a:t>://</a:t>
            </a:r>
            <a:r>
              <a:rPr lang="en-NZ" dirty="0" smtClean="0">
                <a:hlinkClick r:id="rId2"/>
              </a:rPr>
              <a:t>towardsdatascience.com/how-to-get-started-with-social-network-analysis-6d527685d374</a:t>
            </a:r>
            <a:endParaRPr lang="en-NZ" dirty="0" smtClean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36389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Research presentation_RVA_v3" id="{DF2794B4-2314-4F87-8639-5DCB9EEE28EE}" vid="{3B969E49-204F-4FF6-BD10-D26195B8D4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AB02E3-5ADF-4BF0-9C1B-35CDF3FE95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C7D9E6-B0D9-433E-BD46-EB60F64F4DA8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CA875DA-F9FD-4F83-A049-3B1027B542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Research presentation</Template>
  <TotalTime>0</TotalTime>
  <Words>504</Words>
  <Application>Microsoft Office PowerPoint</Application>
  <PresentationFormat>Widescreen</PresentationFormat>
  <Paragraphs>91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Franklin Gothic Book</vt:lpstr>
      <vt:lpstr>Segoe UI</vt:lpstr>
      <vt:lpstr>Office Theme</vt:lpstr>
      <vt:lpstr>Introduction to Networks in R</vt:lpstr>
      <vt:lpstr>Quick review: What is a network?</vt:lpstr>
      <vt:lpstr>Properties of edges</vt:lpstr>
      <vt:lpstr>PowerPoint Presentation</vt:lpstr>
      <vt:lpstr>PowerPoint Presentation</vt:lpstr>
      <vt:lpstr>Properties of nodes</vt:lpstr>
      <vt:lpstr>Degree</vt:lpstr>
      <vt:lpstr>Closeness</vt:lpstr>
      <vt:lpstr>Network-Level Measures</vt:lpstr>
      <vt:lpstr>Other characteristics </vt:lpstr>
      <vt:lpstr>PowerPoint Presentation</vt:lpstr>
      <vt:lpstr>PowerPoint Presentation</vt:lpstr>
      <vt:lpstr>PowerPoint Presentation</vt:lpstr>
      <vt:lpstr>Summarising and visualising data using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Excercise</vt:lpstr>
      <vt:lpstr>Resources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2020-11-02T01:46:19Z</dcterms:created>
  <dcterms:modified xsi:type="dcterms:W3CDTF">2020-11-02T11:23:17Z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